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4e975a2a-de3e-81af-95c4-ba4f29327eb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38"/>
                </a:solidFill>
                <a:latin typeface="+mn-lt"/>
              </a:rPr>
              <a:t>Baseline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Torque</c:v>
                  </c:pt>
                  <c:pt idx="1">
                    <c:v>Rotational speed</c:v>
                  </c:pt>
                  <c:pt idx="2">
                    <c:v>Tool wear</c:v>
                  </c:pt>
                  <c:pt idx="3">
                    <c:v>Air temp</c:v>
                  </c:pt>
                  <c:pt idx="4">
                    <c:v>Process temp</c:v>
                  </c:pt>
                  <c:pt idx="5">
                    <c:v>Type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0.338</c:v>
                </c:pt>
                <c:pt idx="1">
                  <c:v>0.277</c:v>
                </c:pt>
                <c:pt idx="2">
                  <c:v>0.209</c:v>
                </c:pt>
                <c:pt idx="3">
                  <c:v>0.099</c:v>
                </c:pt>
                <c:pt idx="4">
                  <c:v>0.063</c:v>
                </c:pt>
                <c:pt idx="5">
                  <c:v>0.014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38"/>
                </a:solidFill>
                <a:latin typeface="+mn-lt"/>
              </a:rPr>
              <a:t>5-fold stratified CV (mean)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6 features</c:v>
                </c:pt>
              </c:strCache>
            </c:strRef>
          </c:tx>
          <c:spPr>
            <a:solidFill>
              <a:srgbClr val="8E9A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0.916</c:v>
                </c:pt>
                <c:pt idx="1">
                  <c:v>0.51</c:v>
                </c:pt>
                <c:pt idx="2">
                  <c:v>0.652</c:v>
                </c:pt>
                <c:pt idx="3">
                  <c:v>0.964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Engineered features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0.979</c:v>
                </c:pt>
                <c:pt idx="1">
                  <c:v>0.797</c:v>
                </c:pt>
                <c:pt idx="2">
                  <c:v>0.878</c:v>
                </c:pt>
                <c:pt idx="3">
                  <c:v>0.973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258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Harsh Paswan  |  Predictive Maintenance Classifier  |  UCI AI4I 2020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25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Predictive Maintenance Classifier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Detecting rare machine failures on the UCI AI4I 2020 dataset with a Random Forest and physics-based features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Harsh Paswan  ·  B.Tech Chemical Engineering, BIT Mesra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Python · pandas · scikit-learn · class imbalance · stratified cross-validation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problem: failures are rare and costly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UCI AI4I 2020: synthetic milling-machine data, 10,000 production cycles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Inputs: air and process temperature, rotational speed, torque, tool wear, product type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3.39% of cycles fail, so predicting "no failure" every time is 96.6% accurate and catches nothing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Goal: catch real failures (recall) without flooding maintenance with false alarms (precision)</a:t>
            </a:r>
            <a:endParaRPr lang="en-US" sz="1500" dirty="0"/>
          </a:p>
        </p:txBody>
      </p:sp>
      <p:sp>
        <p:nvSpPr>
          <p:cNvPr id="4" name="stat0"/>
          <p:cNvSpPr/>
          <p:nvPr/>
        </p:nvSpPr>
        <p:spPr>
          <a:xfrm>
            <a:off x="5669280" y="1188720"/>
            <a:ext cx="301752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5216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10,000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production cycles</a:t>
            </a:r>
            <a:endParaRPr lang="en-US" sz="1200" dirty="0"/>
          </a:p>
        </p:txBody>
      </p:sp>
      <p:sp>
        <p:nvSpPr>
          <p:cNvPr id="7" name="stat1"/>
          <p:cNvSpPr/>
          <p:nvPr/>
        </p:nvSpPr>
        <p:spPr>
          <a:xfrm>
            <a:off x="5669280" y="2359152"/>
            <a:ext cx="301752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0" y="2450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3.4%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failure rate (339 failures)</a:t>
            </a:r>
            <a:endParaRPr lang="en-US" sz="1200" dirty="0"/>
          </a:p>
        </p:txBody>
      </p:sp>
      <p:sp>
        <p:nvSpPr>
          <p:cNvPr id="10" name="stat2"/>
          <p:cNvSpPr/>
          <p:nvPr/>
        </p:nvSpPr>
        <p:spPr>
          <a:xfrm>
            <a:off x="5669280" y="3529584"/>
            <a:ext cx="301752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36210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raw sensor features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Approach: a leakage-safe, imbalance-aware pipeline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457200" y="1234440"/>
            <a:ext cx="1536192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Clean and encode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Drop UDI and Product ID; encode Type (L/M/H)</a:t>
            </a:r>
            <a:endParaRPr lang="en-US" sz="1150" dirty="0"/>
          </a:p>
        </p:txBody>
      </p:sp>
      <p:sp>
        <p:nvSpPr>
          <p:cNvPr id="7" name="step1"/>
          <p:cNvSpPr/>
          <p:nvPr/>
        </p:nvSpPr>
        <p:spPr>
          <a:xfrm>
            <a:off x="2130552" y="1234440"/>
            <a:ext cx="1536192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7712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Prevent leakage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4231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Exclude the failure-mode labels TWF, HDF, PWF, OSF, RNF</a:t>
            </a:r>
            <a:endParaRPr lang="en-US" sz="1150" dirty="0"/>
          </a:p>
        </p:txBody>
      </p:sp>
      <p:sp>
        <p:nvSpPr>
          <p:cNvPr id="11" name="step2"/>
          <p:cNvSpPr/>
          <p:nvPr/>
        </p:nvSpPr>
        <p:spPr>
          <a:xfrm>
            <a:off x="3803904" y="1234440"/>
            <a:ext cx="1536192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41064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Stratified split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24231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80/20 with stratify=y keeps the 3.4% ratio in both sets</a:t>
            </a:r>
            <a:endParaRPr lang="en-US" sz="1150" dirty="0"/>
          </a:p>
        </p:txBody>
      </p:sp>
      <p:sp>
        <p:nvSpPr>
          <p:cNvPr id="15" name="step3"/>
          <p:cNvSpPr/>
          <p:nvPr/>
        </p:nvSpPr>
        <p:spPr>
          <a:xfrm>
            <a:off x="5477256" y="1234440"/>
            <a:ext cx="1536192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14416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Handle imbalance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4231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Random Forest, 200 trees, class_weight="balanced"</a:t>
            </a:r>
            <a:endParaRPr lang="en-US" sz="1150" dirty="0"/>
          </a:p>
        </p:txBody>
      </p:sp>
      <p:sp>
        <p:nvSpPr>
          <p:cNvPr id="19" name="step4"/>
          <p:cNvSpPr/>
          <p:nvPr/>
        </p:nvSpPr>
        <p:spPr>
          <a:xfrm>
            <a:off x="7150608" y="1234440"/>
            <a:ext cx="1536192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87768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Evaluate honestly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4231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Precision, recall, F1, ROC-AUC with 5-fold stratified CV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Accuracy is deliberately not the headline metric: with 3.4% positives it hides every missed failure.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Baseline: precise, but misses about half of failures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Raw 6 features, single 80/20 split (68 test failures)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0.929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0.574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0.709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0.969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Confusion matrix (test set)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Predicted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Predicted fail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Actual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1929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Actual fail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29 missed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457200" y="3337560"/>
            <a:ext cx="822960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callout-bar"/>
          <p:cNvSpPr/>
          <p:nvPr/>
        </p:nvSpPr>
        <p:spPr>
          <a:xfrm>
            <a:off x="457200" y="3337560"/>
            <a:ext cx="73152" cy="12344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" y="3474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ROC-AUC is 0.97 but recall is 0.57: the model ranks failures well, yet the default 0.5 cutoff is too strict.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Logistic Regression on the same features reaches F1 of only 0.24: a linear model cannot capture torque × speed interactions.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Feature engineering from process physics</a:t>
            </a:r>
            <a:endParaRPr lang="en-US" sz="2600" dirty="0"/>
          </a:p>
        </p:txBody>
      </p:sp>
      <p:sp>
        <p:nvSpPr>
          <p:cNvPr id="3" name="feat0"/>
          <p:cNvSpPr/>
          <p:nvPr/>
        </p:nvSpPr>
        <p:spPr>
          <a:xfrm>
            <a:off x="457200" y="1188720"/>
            <a:ext cx="429768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Power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torque × rotational speed × 2π/60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Captures power failure (PWF)</a:t>
            </a:r>
            <a:endParaRPr lang="en-US" sz="1100" dirty="0"/>
          </a:p>
        </p:txBody>
      </p:sp>
      <p:sp>
        <p:nvSpPr>
          <p:cNvPr id="7" name="feat1"/>
          <p:cNvSpPr/>
          <p:nvPr/>
        </p:nvSpPr>
        <p:spPr>
          <a:xfrm>
            <a:off x="457200" y="2331720"/>
            <a:ext cx="429768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Temperature difference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process temperature − air temperature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Captures heat dissipation failure (HDF)</a:t>
            </a:r>
            <a:endParaRPr lang="en-US" sz="1100" dirty="0"/>
          </a:p>
        </p:txBody>
      </p:sp>
      <p:sp>
        <p:nvSpPr>
          <p:cNvPr id="11" name="feat2"/>
          <p:cNvSpPr/>
          <p:nvPr/>
        </p:nvSpPr>
        <p:spPr>
          <a:xfrm>
            <a:off x="457200" y="3474720"/>
            <a:ext cx="429768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Wear × torque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tool wear × torque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60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Captures overstrain failure (OSF)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29200" y="1097280"/>
          <a:ext cx="3657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Result: recall up 29 points, F1 up 0.23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0"/>
          <p:cNvSpPr/>
          <p:nvPr/>
        </p:nvSpPr>
        <p:spPr>
          <a:xfrm>
            <a:off x="6035040" y="1188720"/>
            <a:ext cx="2651760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+29 pts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Recall: 51% → 80%</a:t>
            </a:r>
            <a:endParaRPr lang="en-US" sz="1200" dirty="0"/>
          </a:p>
        </p:txBody>
      </p:sp>
      <p:sp>
        <p:nvSpPr>
          <p:cNvPr id="7" name="res1"/>
          <p:cNvSpPr/>
          <p:nvPr/>
        </p:nvSpPr>
        <p:spPr>
          <a:xfrm>
            <a:off x="6035040" y="2286000"/>
            <a:ext cx="2651760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+0.23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F1: 0.65 → 0.88</a:t>
            </a:r>
            <a:endParaRPr lang="en-US" sz="1200" dirty="0"/>
          </a:p>
        </p:txBody>
      </p:sp>
      <p:sp>
        <p:nvSpPr>
          <p:cNvPr id="10" name="res2"/>
          <p:cNvSpPr/>
          <p:nvPr/>
        </p:nvSpPr>
        <p:spPr>
          <a:xfrm>
            <a:off x="6035040" y="3383280"/>
            <a:ext cx="2651760" cy="9601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98%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Precision (up from 92%)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Threshold 0.5. Recall std across folds: 0.055 → 0.031, so the gain is far larger than the noise.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Takeaways, limits and next steps</a:t>
            </a:r>
            <a:endParaRPr lang="en-US" sz="2600" dirty="0"/>
          </a:p>
        </p:txBody>
      </p:sp>
      <p:sp>
        <p:nvSpPr>
          <p:cNvPr id="3" name="left"/>
          <p:cNvSpPr/>
          <p:nvPr/>
        </p:nvSpPr>
        <p:spPr>
          <a:xfrm>
            <a:off x="457200" y="1188720"/>
            <a:ext cx="4023360" cy="28346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right"/>
          <p:cNvSpPr/>
          <p:nvPr/>
        </p:nvSpPr>
        <p:spPr>
          <a:xfrm>
            <a:off x="4663440" y="1188720"/>
            <a:ext cx="4023360" cy="28346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this shows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Domain-driven features beat extra model complexity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Recall was the right target: a miss means an unplanned breakdown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Cross-validation gave a stable estimate on only 339 failures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Limits and next steps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Random failures (RNF) are unpredictable, capping achievable recall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Synthetic data: validate on real plant data before deployment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Threshold tuning gave only a marginal gain (F1 0.852 → 0.855), so 0.5 is reported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Next: SMOTE comparison, gradient boosting, SHAP explanations</a:t>
            </a:r>
            <a:endParaRPr lang="en-US" sz="1250" dirty="0"/>
          </a:p>
        </p:txBody>
      </p:sp>
      <p:sp>
        <p:nvSpPr>
          <p:cNvPr id="9" name="stack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Stack: Python · pandas · NumPy · scikit-learn · matplotlib · seaborn · Jupyter /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I">
  <a:themeElements>
    <a:clrScheme name="AI4I">
      <a:dk1>
        <a:srgbClr val="1B2438"/>
      </a:dk1>
      <a:lt1>
        <a:srgbClr val="FFFFFF"/>
      </a:lt1>
      <a:dk2>
        <a:srgbClr val="0B3C5D"/>
      </a:dk2>
      <a:lt2>
        <a:srgbClr val="F2F5F9"/>
      </a:lt2>
      <a:accent1>
        <a:srgbClr val="0E9AA7"/>
      </a:accent1>
      <a:accent2>
        <a:srgbClr val="F28C28"/>
      </a:accent2>
      <a:accent3>
        <a:srgbClr val="5B6B8C"/>
      </a:accent3>
      <a:accent4>
        <a:srgbClr val="2E7D5B"/>
      </a:accent4>
      <a:accent5>
        <a:srgbClr val="C0392B"/>
      </a:accent5>
      <a:accent6>
        <a:srgbClr val="8E9AAF"/>
      </a:accent6>
      <a:hlink>
        <a:srgbClr val="0E9AA7"/>
      </a:hlink>
      <a:folHlink>
        <a:srgbClr val="5B6B8C"/>
      </a:folHlink>
    </a:clrScheme>
    <a:fontScheme name="AI4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2026-10-05T15:33:54Z</dcterms:created>
  <dcterms:modified xsi:type="dcterms:W3CDTF">2026-10-05T15:33:54Z</dcterms:modified>
</cp:coreProperties>
</file>